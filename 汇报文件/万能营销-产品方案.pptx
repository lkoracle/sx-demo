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"/>
            <a:ext cx="8595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万能营销 — 产品方案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91440" y="365760"/>
            <a:ext cx="164592" cy="4572000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4" name="Text 2"/>
          <p:cNvSpPr/>
          <p:nvPr/>
        </p:nvSpPr>
        <p:spPr>
          <a:xfrm>
            <a:off x="91440" y="365760"/>
            <a:ext cx="164592" cy="457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</a:t>
            </a:r>
            <a:endParaRPr lang="en-US" sz="6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处</a:t>
            </a:r>
            <a:endParaRPr lang="en-US" sz="6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理</a:t>
            </a:r>
            <a:endParaRPr lang="en-US" sz="6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</a:t>
            </a:r>
            <a:endParaRPr lang="en-US" sz="6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段</a:t>
            </a:r>
            <a:endParaRPr lang="en-US" sz="600" dirty="0"/>
          </a:p>
        </p:txBody>
      </p:sp>
      <p:sp>
        <p:nvSpPr>
          <p:cNvPr id="5" name="Shape 3"/>
          <p:cNvSpPr/>
          <p:nvPr/>
        </p:nvSpPr>
        <p:spPr>
          <a:xfrm>
            <a:off x="365760" y="411480"/>
            <a:ext cx="640080" cy="274320"/>
          </a:xfrm>
          <a:prstGeom prst="rect">
            <a:avLst/>
          </a:prstGeom>
          <a:solidFill>
            <a:srgbClr val="1E3A5F"/>
          </a:solidFill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41148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用户输入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143000" y="429768"/>
            <a:ext cx="548640" cy="219456"/>
          </a:xfrm>
          <a:prstGeom prst="rect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3000" y="393192"/>
            <a:ext cx="548640" cy="146304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576072"/>
            <a:ext cx="548640" cy="146304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41148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DC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敏感&amp;安全库</a:t>
            </a:r>
            <a:endParaRPr lang="en-US" sz="550" dirty="0"/>
          </a:p>
        </p:txBody>
      </p:sp>
      <p:sp>
        <p:nvSpPr>
          <p:cNvPr id="11" name="Shape 9"/>
          <p:cNvSpPr/>
          <p:nvPr/>
        </p:nvSpPr>
        <p:spPr>
          <a:xfrm>
            <a:off x="1783080" y="429768"/>
            <a:ext cx="594360" cy="219456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83080" y="393192"/>
            <a:ext cx="594360" cy="146304"/>
          </a:xfrm>
          <a:prstGeom prst="ellipse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83080" y="576072"/>
            <a:ext cx="594360" cy="146304"/>
          </a:xfrm>
          <a:prstGeom prst="ellipse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83080" y="411480"/>
            <a:ext cx="594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0891B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FAQ/预设任务</a:t>
            </a:r>
            <a:endParaRPr lang="en-US" sz="550" dirty="0"/>
          </a:p>
        </p:txBody>
      </p:sp>
      <p:sp>
        <p:nvSpPr>
          <p:cNvPr id="15" name="Shape 13"/>
          <p:cNvSpPr/>
          <p:nvPr/>
        </p:nvSpPr>
        <p:spPr>
          <a:xfrm>
            <a:off x="2468880" y="429768"/>
            <a:ext cx="548640" cy="219456"/>
          </a:xfrm>
          <a:prstGeom prst="rect">
            <a:avLst/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68880" y="393192"/>
            <a:ext cx="548640" cy="146304"/>
          </a:xfrm>
          <a:prstGeom prst="ellipse">
            <a:avLst/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68880" y="576072"/>
            <a:ext cx="548640" cy="146304"/>
          </a:xfrm>
          <a:prstGeom prst="ellipse">
            <a:avLst/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68880" y="41148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0596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短期记忆</a:t>
            </a:r>
            <a:endParaRPr lang="en-US" sz="550" dirty="0"/>
          </a:p>
        </p:txBody>
      </p:sp>
      <p:sp>
        <p:nvSpPr>
          <p:cNvPr id="19" name="Text 17"/>
          <p:cNvSpPr/>
          <p:nvPr/>
        </p:nvSpPr>
        <p:spPr>
          <a:xfrm>
            <a:off x="1371600" y="713232"/>
            <a:ext cx="10972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i="1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知识检索</a:t>
            </a:r>
            <a:endParaRPr lang="en-US" sz="500" dirty="0"/>
          </a:p>
        </p:txBody>
      </p:sp>
      <p:sp>
        <p:nvSpPr>
          <p:cNvPr id="20" name="Shape 18"/>
          <p:cNvSpPr/>
          <p:nvPr/>
        </p:nvSpPr>
        <p:spPr>
          <a:xfrm>
            <a:off x="1417320" y="685800"/>
            <a:ext cx="0" cy="274320"/>
          </a:xfrm>
          <a:prstGeom prst="line">
            <a:avLst/>
          </a:prstGeom>
          <a:noFill/>
          <a:ln w="12700">
            <a:solidFill>
              <a:srgbClr val="F87171"/>
            </a:solidFill>
            <a:prstDash val="sysDash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2075688" y="685800"/>
            <a:ext cx="0" cy="274320"/>
          </a:xfrm>
          <a:prstGeom prst="line">
            <a:avLst/>
          </a:prstGeom>
          <a:noFill/>
          <a:ln w="12700">
            <a:solidFill>
              <a:srgbClr val="38BDF8"/>
            </a:solidFill>
            <a:prstDash val="sysDash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2743200" y="685800"/>
            <a:ext cx="0" cy="274320"/>
          </a:xfrm>
          <a:prstGeom prst="line">
            <a:avLst/>
          </a:prstGeom>
          <a:noFill/>
          <a:ln w="12700">
            <a:solidFill>
              <a:srgbClr val="34D399"/>
            </a:solidFill>
            <a:prstDash val="sysDash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85800" y="685800"/>
            <a:ext cx="0" cy="32004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 rot="2700000">
            <a:off x="539496" y="950976"/>
            <a:ext cx="292608" cy="292608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974" y="987552"/>
            <a:ext cx="409651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流程直达?</a:t>
            </a:r>
            <a:endParaRPr lang="en-US" sz="600" dirty="0"/>
          </a:p>
        </p:txBody>
      </p:sp>
      <p:sp>
        <p:nvSpPr>
          <p:cNvPr id="26" name="Shape 24"/>
          <p:cNvSpPr/>
          <p:nvPr/>
        </p:nvSpPr>
        <p:spPr>
          <a:xfrm>
            <a:off x="886968" y="1097280"/>
            <a:ext cx="1837944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1005840" y="960120"/>
            <a:ext cx="22860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0596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是</a:t>
            </a:r>
            <a:endParaRPr lang="en-US" sz="500" dirty="0"/>
          </a:p>
        </p:txBody>
      </p:sp>
      <p:sp>
        <p:nvSpPr>
          <p:cNvPr id="28" name="Shape 26"/>
          <p:cNvSpPr/>
          <p:nvPr/>
        </p:nvSpPr>
        <p:spPr>
          <a:xfrm>
            <a:off x="2724912" y="987552"/>
            <a:ext cx="594360" cy="219456"/>
          </a:xfrm>
          <a:prstGeom prst="rect">
            <a:avLst/>
          </a:prstGeom>
          <a:solidFill>
            <a:srgbClr val="F5F3FF"/>
          </a:solidFill>
          <a:ln w="15240">
            <a:solidFill>
              <a:srgbClr val="DDD6FE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724912" y="987552"/>
            <a:ext cx="5943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7C3AE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直达特定Agent</a:t>
            </a:r>
            <a:endParaRPr lang="en-US" sz="500" dirty="0"/>
          </a:p>
        </p:txBody>
      </p:sp>
      <p:sp>
        <p:nvSpPr>
          <p:cNvPr id="30" name="Shape 28"/>
          <p:cNvSpPr/>
          <p:nvPr/>
        </p:nvSpPr>
        <p:spPr>
          <a:xfrm>
            <a:off x="685800" y="1298448"/>
            <a:ext cx="0" cy="201168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 rot="2700000">
            <a:off x="539496" y="1499616"/>
            <a:ext cx="292608" cy="292608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974" y="1536192"/>
            <a:ext cx="409651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敏感问答?</a:t>
            </a:r>
            <a:endParaRPr lang="en-US" sz="600" dirty="0"/>
          </a:p>
        </p:txBody>
      </p:sp>
      <p:sp>
        <p:nvSpPr>
          <p:cNvPr id="33" name="Shape 31"/>
          <p:cNvSpPr/>
          <p:nvPr/>
        </p:nvSpPr>
        <p:spPr>
          <a:xfrm>
            <a:off x="886968" y="1645920"/>
            <a:ext cx="1837944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1005840" y="1508760"/>
            <a:ext cx="22860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0596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是</a:t>
            </a:r>
            <a:endParaRPr lang="en-US" sz="500" dirty="0"/>
          </a:p>
        </p:txBody>
      </p:sp>
      <p:sp>
        <p:nvSpPr>
          <p:cNvPr id="35" name="Shape 33"/>
          <p:cNvSpPr/>
          <p:nvPr/>
        </p:nvSpPr>
        <p:spPr>
          <a:xfrm>
            <a:off x="2724912" y="1536192"/>
            <a:ext cx="594360" cy="219456"/>
          </a:xfrm>
          <a:prstGeom prst="rect">
            <a:avLst/>
          </a:prstGeom>
          <a:solidFill>
            <a:srgbClr val="FEE2E2"/>
          </a:solidFill>
          <a:ln w="15240">
            <a:solidFill>
              <a:srgbClr val="FECACA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2724912" y="1536192"/>
            <a:ext cx="5943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DC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安全拦截回复</a:t>
            </a:r>
            <a:endParaRPr lang="en-US" sz="500" dirty="0"/>
          </a:p>
        </p:txBody>
      </p:sp>
      <p:sp>
        <p:nvSpPr>
          <p:cNvPr id="37" name="Shape 35"/>
          <p:cNvSpPr/>
          <p:nvPr/>
        </p:nvSpPr>
        <p:spPr>
          <a:xfrm>
            <a:off x="685800" y="1847088"/>
            <a:ext cx="0" cy="201168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 rot="2700000">
            <a:off x="539496" y="2048256"/>
            <a:ext cx="292608" cy="292608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974" y="2084832"/>
            <a:ext cx="409651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多轮上下文?</a:t>
            </a:r>
            <a:endParaRPr lang="en-US" sz="600" dirty="0"/>
          </a:p>
        </p:txBody>
      </p:sp>
      <p:sp>
        <p:nvSpPr>
          <p:cNvPr id="40" name="Shape 38"/>
          <p:cNvSpPr/>
          <p:nvPr/>
        </p:nvSpPr>
        <p:spPr>
          <a:xfrm>
            <a:off x="886968" y="2194560"/>
            <a:ext cx="1837944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1" name="Text 39"/>
          <p:cNvSpPr/>
          <p:nvPr/>
        </p:nvSpPr>
        <p:spPr>
          <a:xfrm>
            <a:off x="1005840" y="2057400"/>
            <a:ext cx="22860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0596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是</a:t>
            </a:r>
            <a:endParaRPr lang="en-US" sz="500" dirty="0"/>
          </a:p>
        </p:txBody>
      </p:sp>
      <p:sp>
        <p:nvSpPr>
          <p:cNvPr id="42" name="Shape 40"/>
          <p:cNvSpPr/>
          <p:nvPr/>
        </p:nvSpPr>
        <p:spPr>
          <a:xfrm>
            <a:off x="2724912" y="2084832"/>
            <a:ext cx="594360" cy="219456"/>
          </a:xfrm>
          <a:prstGeom prst="rect">
            <a:avLst/>
          </a:prstGeom>
          <a:solidFill>
            <a:srgbClr val="EFF6FF"/>
          </a:solidFill>
          <a:ln w="15240">
            <a:solidFill>
              <a:srgbClr val="BFDBFE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2724912" y="2084832"/>
            <a:ext cx="5943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0891B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结合上文改写</a:t>
            </a:r>
            <a:endParaRPr lang="en-US" sz="500" dirty="0"/>
          </a:p>
        </p:txBody>
      </p:sp>
      <p:sp>
        <p:nvSpPr>
          <p:cNvPr id="44" name="Shape 42"/>
          <p:cNvSpPr/>
          <p:nvPr/>
        </p:nvSpPr>
        <p:spPr>
          <a:xfrm>
            <a:off x="685800" y="2395728"/>
            <a:ext cx="0" cy="201168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 rot="2700000">
            <a:off x="539496" y="2596896"/>
            <a:ext cx="292608" cy="292608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0974" y="2633472"/>
            <a:ext cx="409651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需要澄清?</a:t>
            </a:r>
            <a:endParaRPr lang="en-US" sz="600" dirty="0"/>
          </a:p>
        </p:txBody>
      </p:sp>
      <p:sp>
        <p:nvSpPr>
          <p:cNvPr id="47" name="Shape 45"/>
          <p:cNvSpPr/>
          <p:nvPr/>
        </p:nvSpPr>
        <p:spPr>
          <a:xfrm>
            <a:off x="886968" y="2743200"/>
            <a:ext cx="1837944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8" name="Text 46"/>
          <p:cNvSpPr/>
          <p:nvPr/>
        </p:nvSpPr>
        <p:spPr>
          <a:xfrm>
            <a:off x="1005840" y="2606040"/>
            <a:ext cx="22860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0596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是</a:t>
            </a:r>
            <a:endParaRPr lang="en-US" sz="500" dirty="0"/>
          </a:p>
        </p:txBody>
      </p:sp>
      <p:sp>
        <p:nvSpPr>
          <p:cNvPr id="49" name="Shape 47"/>
          <p:cNvSpPr/>
          <p:nvPr/>
        </p:nvSpPr>
        <p:spPr>
          <a:xfrm>
            <a:off x="2724912" y="2633472"/>
            <a:ext cx="594360" cy="219456"/>
          </a:xfrm>
          <a:prstGeom prst="rect">
            <a:avLst/>
          </a:prstGeom>
          <a:solidFill>
            <a:srgbClr val="FFF7ED"/>
          </a:solidFill>
          <a:ln w="15240">
            <a:solidFill>
              <a:srgbClr val="FED7AA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2724912" y="2633472"/>
            <a:ext cx="5943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EA58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澄清问题</a:t>
            </a:r>
            <a:endParaRPr lang="en-US" sz="500" dirty="0"/>
          </a:p>
        </p:txBody>
      </p:sp>
      <p:sp>
        <p:nvSpPr>
          <p:cNvPr id="51" name="Shape 49"/>
          <p:cNvSpPr/>
          <p:nvPr/>
        </p:nvSpPr>
        <p:spPr>
          <a:xfrm>
            <a:off x="685800" y="2944368"/>
            <a:ext cx="0" cy="201168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365760" y="3182112"/>
            <a:ext cx="640080" cy="219456"/>
          </a:xfrm>
          <a:prstGeom prst="rect">
            <a:avLst/>
          </a:prstGeom>
          <a:solidFill>
            <a:srgbClr val="ECFDF5"/>
          </a:solidFill>
          <a:ln w="15240">
            <a:solidFill>
              <a:srgbClr val="BBF7D0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365760" y="3182112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0596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RAG召回</a:t>
            </a:r>
            <a:endParaRPr lang="en-US" sz="600" dirty="0"/>
          </a:p>
        </p:txBody>
      </p:sp>
      <p:sp>
        <p:nvSpPr>
          <p:cNvPr id="54" name="Shape 52"/>
          <p:cNvSpPr/>
          <p:nvPr/>
        </p:nvSpPr>
        <p:spPr>
          <a:xfrm>
            <a:off x="685800" y="3401568"/>
            <a:ext cx="0" cy="256032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320040" y="3703320"/>
            <a:ext cx="731520" cy="274320"/>
          </a:xfrm>
          <a:prstGeom prst="rect">
            <a:avLst/>
          </a:prstGeom>
          <a:solidFill>
            <a:srgbClr val="0891B2"/>
          </a:solidFill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320040" y="370332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意图识别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1051560" y="3840480"/>
            <a:ext cx="246888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dash"/>
            <a:tailEnd type="triangle"/>
          </a:ln>
        </p:spPr>
      </p:sp>
      <p:sp>
        <p:nvSpPr>
          <p:cNvPr id="58" name="Text 56"/>
          <p:cNvSpPr/>
          <p:nvPr/>
        </p:nvSpPr>
        <p:spPr>
          <a:xfrm>
            <a:off x="1371600" y="3657600"/>
            <a:ext cx="91440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i="1" dirty="0">
                <a:solidFill>
                  <a:srgbClr val="0891B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LLM + FewShot</a:t>
            </a:r>
            <a:endParaRPr lang="en-US" sz="500" dirty="0"/>
          </a:p>
        </p:txBody>
      </p:sp>
      <p:sp>
        <p:nvSpPr>
          <p:cNvPr id="59" name="Shape 57"/>
          <p:cNvSpPr/>
          <p:nvPr/>
        </p:nvSpPr>
        <p:spPr>
          <a:xfrm>
            <a:off x="3383280" y="365760"/>
            <a:ext cx="164592" cy="457200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60" name="Text 58"/>
          <p:cNvSpPr/>
          <p:nvPr/>
        </p:nvSpPr>
        <p:spPr>
          <a:xfrm>
            <a:off x="3383280" y="365760"/>
            <a:ext cx="164592" cy="457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意</a:t>
            </a:r>
            <a:endParaRPr lang="en-US" sz="6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</a:t>
            </a:r>
            <a:endParaRPr lang="en-US" sz="6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路</a:t>
            </a:r>
            <a:endParaRPr lang="en-US" sz="6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由</a:t>
            </a:r>
            <a:endParaRPr lang="en-US" sz="6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</a:t>
            </a:r>
            <a:endParaRPr lang="en-US" sz="6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段</a:t>
            </a:r>
            <a:endParaRPr lang="en-US" sz="600" dirty="0"/>
          </a:p>
        </p:txBody>
      </p:sp>
      <p:sp>
        <p:nvSpPr>
          <p:cNvPr id="61" name="Shape 59"/>
          <p:cNvSpPr/>
          <p:nvPr/>
        </p:nvSpPr>
        <p:spPr>
          <a:xfrm>
            <a:off x="3703320" y="411480"/>
            <a:ext cx="2560320" cy="1874520"/>
          </a:xfrm>
          <a:prstGeom prst="rect">
            <a:avLst/>
          </a:prstGeom>
          <a:solidFill>
            <a:srgbClr val="F0F9FF"/>
          </a:solidFill>
          <a:ln w="12700">
            <a:solidFill>
              <a:srgbClr val="93C5FD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3703320" y="411480"/>
            <a:ext cx="2560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万能营销 Agents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3822192" y="685800"/>
            <a:ext cx="1051560" cy="228600"/>
          </a:xfrm>
          <a:prstGeom prst="rect">
            <a:avLst/>
          </a:prstGeom>
          <a:solidFill>
            <a:srgbClr val="FFFFFF"/>
          </a:solidFill>
          <a:ln w="15240">
            <a:solidFill>
              <a:srgbClr val="93C5FD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3822192" y="685800"/>
            <a:ext cx="10515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营销规划Agent</a:t>
            </a:r>
            <a:endParaRPr lang="en-US" sz="550" dirty="0"/>
          </a:p>
        </p:txBody>
      </p:sp>
      <p:sp>
        <p:nvSpPr>
          <p:cNvPr id="65" name="Shape 63"/>
          <p:cNvSpPr/>
          <p:nvPr/>
        </p:nvSpPr>
        <p:spPr>
          <a:xfrm>
            <a:off x="4992624" y="685800"/>
            <a:ext cx="1051560" cy="228600"/>
          </a:xfrm>
          <a:prstGeom prst="rect">
            <a:avLst/>
          </a:prstGeom>
          <a:solidFill>
            <a:srgbClr val="FFFFFF"/>
          </a:solidFill>
          <a:ln w="15240">
            <a:solidFill>
              <a:srgbClr val="93C5FD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4992624" y="685800"/>
            <a:ext cx="10515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充值缴费Agent</a:t>
            </a:r>
            <a:endParaRPr lang="en-US" sz="550" dirty="0"/>
          </a:p>
        </p:txBody>
      </p:sp>
      <p:sp>
        <p:nvSpPr>
          <p:cNvPr id="67" name="Shape 65"/>
          <p:cNvSpPr/>
          <p:nvPr/>
        </p:nvSpPr>
        <p:spPr>
          <a:xfrm>
            <a:off x="3822192" y="1005840"/>
            <a:ext cx="1051560" cy="228600"/>
          </a:xfrm>
          <a:prstGeom prst="rect">
            <a:avLst/>
          </a:prstGeom>
          <a:solidFill>
            <a:srgbClr val="FFFFFF"/>
          </a:solidFill>
          <a:ln w="15240">
            <a:solidFill>
              <a:srgbClr val="93C5FD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8" name="Text 66"/>
          <p:cNvSpPr/>
          <p:nvPr/>
        </p:nvSpPr>
        <p:spPr>
          <a:xfrm>
            <a:off x="3822192" y="1005840"/>
            <a:ext cx="10515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内容创作Agent</a:t>
            </a:r>
            <a:endParaRPr lang="en-US" sz="550" dirty="0"/>
          </a:p>
        </p:txBody>
      </p:sp>
      <p:sp>
        <p:nvSpPr>
          <p:cNvPr id="69" name="Shape 67"/>
          <p:cNvSpPr/>
          <p:nvPr/>
        </p:nvSpPr>
        <p:spPr>
          <a:xfrm>
            <a:off x="4992624" y="1005840"/>
            <a:ext cx="1051560" cy="228600"/>
          </a:xfrm>
          <a:prstGeom prst="rect">
            <a:avLst/>
          </a:prstGeom>
          <a:solidFill>
            <a:srgbClr val="FFFFFF"/>
          </a:solidFill>
          <a:ln w="15240">
            <a:solidFill>
              <a:srgbClr val="93C5FD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0" name="Text 68"/>
          <p:cNvSpPr/>
          <p:nvPr/>
        </p:nvSpPr>
        <p:spPr>
          <a:xfrm>
            <a:off x="4992624" y="1005840"/>
            <a:ext cx="10515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客户经营Agent</a:t>
            </a:r>
            <a:endParaRPr lang="en-US" sz="550" dirty="0"/>
          </a:p>
        </p:txBody>
      </p:sp>
      <p:sp>
        <p:nvSpPr>
          <p:cNvPr id="71" name="Shape 69"/>
          <p:cNvSpPr/>
          <p:nvPr/>
        </p:nvSpPr>
        <p:spPr>
          <a:xfrm>
            <a:off x="3822192" y="1325880"/>
            <a:ext cx="1051560" cy="228600"/>
          </a:xfrm>
          <a:prstGeom prst="rect">
            <a:avLst/>
          </a:prstGeom>
          <a:solidFill>
            <a:srgbClr val="FFFFFF"/>
          </a:solidFill>
          <a:ln w="15240">
            <a:solidFill>
              <a:srgbClr val="93C5FD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2" name="Text 70"/>
          <p:cNvSpPr/>
          <p:nvPr/>
        </p:nvSpPr>
        <p:spPr>
          <a:xfrm>
            <a:off x="3822192" y="1325880"/>
            <a:ext cx="10515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组织管理Agent</a:t>
            </a:r>
            <a:endParaRPr lang="en-US" sz="550" dirty="0"/>
          </a:p>
        </p:txBody>
      </p:sp>
      <p:sp>
        <p:nvSpPr>
          <p:cNvPr id="73" name="Shape 71"/>
          <p:cNvSpPr/>
          <p:nvPr/>
        </p:nvSpPr>
        <p:spPr>
          <a:xfrm>
            <a:off x="4992624" y="1325880"/>
            <a:ext cx="1051560" cy="228600"/>
          </a:xfrm>
          <a:prstGeom prst="rect">
            <a:avLst/>
          </a:prstGeom>
          <a:solidFill>
            <a:srgbClr val="FFFFFF"/>
          </a:solidFill>
          <a:ln w="15240">
            <a:solidFill>
              <a:srgbClr val="93C5FD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4" name="Text 72"/>
          <p:cNvSpPr/>
          <p:nvPr/>
        </p:nvSpPr>
        <p:spPr>
          <a:xfrm>
            <a:off x="4992624" y="1325880"/>
            <a:ext cx="10515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产品销售Agent</a:t>
            </a:r>
            <a:endParaRPr lang="en-US" sz="550" dirty="0"/>
          </a:p>
        </p:txBody>
      </p:sp>
      <p:sp>
        <p:nvSpPr>
          <p:cNvPr id="75" name="Shape 73"/>
          <p:cNvSpPr/>
          <p:nvPr/>
        </p:nvSpPr>
        <p:spPr>
          <a:xfrm>
            <a:off x="6263640" y="1280160"/>
            <a:ext cx="32004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76" name="Shape 74"/>
          <p:cNvSpPr/>
          <p:nvPr/>
        </p:nvSpPr>
        <p:spPr>
          <a:xfrm>
            <a:off x="3703320" y="2423160"/>
            <a:ext cx="2560320" cy="640080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7" name="Text 75"/>
          <p:cNvSpPr/>
          <p:nvPr/>
        </p:nvSpPr>
        <p:spPr>
          <a:xfrm>
            <a:off x="3703320" y="242316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7C3AE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平安ONE (Openclaw)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3822192" y="2670048"/>
            <a:ext cx="1051560" cy="228600"/>
          </a:xfrm>
          <a:prstGeom prst="rect">
            <a:avLst/>
          </a:prstGeom>
          <a:solidFill>
            <a:srgbClr val="FFFFFF"/>
          </a:solidFill>
          <a:ln w="15240">
            <a:solidFill>
              <a:srgbClr val="C4B5FD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9" name="Text 77"/>
          <p:cNvSpPr/>
          <p:nvPr/>
        </p:nvSpPr>
        <p:spPr>
          <a:xfrm>
            <a:off x="3822192" y="2670048"/>
            <a:ext cx="10515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7C3AE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云侧实例(沙盒)</a:t>
            </a:r>
            <a:endParaRPr lang="en-US" sz="550" dirty="0"/>
          </a:p>
        </p:txBody>
      </p:sp>
      <p:sp>
        <p:nvSpPr>
          <p:cNvPr id="80" name="Shape 78"/>
          <p:cNvSpPr/>
          <p:nvPr/>
        </p:nvSpPr>
        <p:spPr>
          <a:xfrm>
            <a:off x="5010912" y="2670048"/>
            <a:ext cx="1051560" cy="228600"/>
          </a:xfrm>
          <a:prstGeom prst="rect">
            <a:avLst/>
          </a:prstGeom>
          <a:solidFill>
            <a:srgbClr val="FFFFFF"/>
          </a:solidFill>
          <a:ln w="15240">
            <a:solidFill>
              <a:srgbClr val="C4B5FD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1" name="Text 79"/>
          <p:cNvSpPr/>
          <p:nvPr/>
        </p:nvSpPr>
        <p:spPr>
          <a:xfrm>
            <a:off x="5010912" y="2670048"/>
            <a:ext cx="10515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7C3AE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端侧实例</a:t>
            </a:r>
            <a:endParaRPr lang="en-US" sz="550" dirty="0"/>
          </a:p>
        </p:txBody>
      </p:sp>
      <p:sp>
        <p:nvSpPr>
          <p:cNvPr id="82" name="Shape 80"/>
          <p:cNvSpPr/>
          <p:nvPr/>
        </p:nvSpPr>
        <p:spPr>
          <a:xfrm>
            <a:off x="6263640" y="2743200"/>
            <a:ext cx="32004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3" name="Shape 81"/>
          <p:cNvSpPr/>
          <p:nvPr/>
        </p:nvSpPr>
        <p:spPr>
          <a:xfrm>
            <a:off x="3703320" y="3200400"/>
            <a:ext cx="2560320" cy="411480"/>
          </a:xfrm>
          <a:prstGeom prst="rect">
            <a:avLst/>
          </a:prstGeom>
          <a:solidFill>
            <a:srgbClr val="ECFDF5"/>
          </a:solidFill>
          <a:ln w="12700">
            <a:solidFill>
              <a:srgbClr val="86EFAC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4" name="Text 82"/>
          <p:cNvSpPr/>
          <p:nvPr/>
        </p:nvSpPr>
        <p:spPr>
          <a:xfrm>
            <a:off x="3703320" y="3200400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596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原ASKBOB智能问答</a:t>
            </a:r>
            <a:endParaRPr lang="en-US" sz="700" dirty="0"/>
          </a:p>
        </p:txBody>
      </p:sp>
      <p:sp>
        <p:nvSpPr>
          <p:cNvPr id="85" name="Shape 83"/>
          <p:cNvSpPr/>
          <p:nvPr/>
        </p:nvSpPr>
        <p:spPr>
          <a:xfrm>
            <a:off x="6263640" y="3401568"/>
            <a:ext cx="32004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6" name="Shape 84"/>
          <p:cNvSpPr/>
          <p:nvPr/>
        </p:nvSpPr>
        <p:spPr>
          <a:xfrm>
            <a:off x="3822192" y="3794760"/>
            <a:ext cx="777240" cy="228600"/>
          </a:xfrm>
          <a:prstGeom prst="rect">
            <a:avLst/>
          </a:prstGeom>
          <a:solidFill>
            <a:srgbClr val="FFF7ED"/>
          </a:solidFill>
          <a:ln w="15240">
            <a:solidFill>
              <a:srgbClr val="FED7AA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7" name="Text 85"/>
          <p:cNvSpPr/>
          <p:nvPr/>
        </p:nvSpPr>
        <p:spPr>
          <a:xfrm>
            <a:off x="3822192" y="3794760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EA58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闲聊意图</a:t>
            </a:r>
            <a:endParaRPr lang="en-US" sz="550" dirty="0"/>
          </a:p>
        </p:txBody>
      </p:sp>
      <p:sp>
        <p:nvSpPr>
          <p:cNvPr id="88" name="Shape 86"/>
          <p:cNvSpPr/>
          <p:nvPr/>
        </p:nvSpPr>
        <p:spPr>
          <a:xfrm>
            <a:off x="4599432" y="3909060"/>
            <a:ext cx="36576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9" name="Shape 87"/>
          <p:cNvSpPr/>
          <p:nvPr/>
        </p:nvSpPr>
        <p:spPr>
          <a:xfrm>
            <a:off x="4965192" y="3794760"/>
            <a:ext cx="777240" cy="228600"/>
          </a:xfrm>
          <a:prstGeom prst="rect">
            <a:avLst/>
          </a:prstGeom>
          <a:solidFill>
            <a:srgbClr val="FFF7ED"/>
          </a:solidFill>
          <a:ln w="15240">
            <a:solidFill>
              <a:srgbClr val="FED7AA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0" name="Text 88"/>
          <p:cNvSpPr/>
          <p:nvPr/>
        </p:nvSpPr>
        <p:spPr>
          <a:xfrm>
            <a:off x="4965192" y="3794760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EA580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闲聊回复</a:t>
            </a:r>
            <a:endParaRPr lang="en-US" sz="550" dirty="0"/>
          </a:p>
        </p:txBody>
      </p:sp>
      <p:sp>
        <p:nvSpPr>
          <p:cNvPr id="91" name="Shape 89"/>
          <p:cNvSpPr/>
          <p:nvPr/>
        </p:nvSpPr>
        <p:spPr>
          <a:xfrm>
            <a:off x="5742432" y="3909060"/>
            <a:ext cx="841248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92" name="Shape 90"/>
          <p:cNvSpPr/>
          <p:nvPr/>
        </p:nvSpPr>
        <p:spPr>
          <a:xfrm>
            <a:off x="6492240" y="365760"/>
            <a:ext cx="164592" cy="4572000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93" name="Text 91"/>
          <p:cNvSpPr/>
          <p:nvPr/>
        </p:nvSpPr>
        <p:spPr>
          <a:xfrm>
            <a:off x="6492240" y="365760"/>
            <a:ext cx="164592" cy="457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兜</a:t>
            </a:r>
            <a:endParaRPr lang="en-US" sz="6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底</a:t>
            </a:r>
            <a:endParaRPr lang="en-US" sz="6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</a:t>
            </a:r>
            <a:endParaRPr lang="en-US" sz="6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</a:t>
            </a:r>
            <a:endParaRPr lang="en-US" sz="6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出</a:t>
            </a:r>
            <a:endParaRPr lang="en-US" sz="600" dirty="0"/>
          </a:p>
        </p:txBody>
      </p:sp>
      <p:sp>
        <p:nvSpPr>
          <p:cNvPr id="94" name="Shape 92"/>
          <p:cNvSpPr/>
          <p:nvPr/>
        </p:nvSpPr>
        <p:spPr>
          <a:xfrm>
            <a:off x="6858000" y="2286000"/>
            <a:ext cx="731520" cy="274320"/>
          </a:xfrm>
          <a:prstGeom prst="rect">
            <a:avLst/>
          </a:prstGeom>
          <a:solidFill>
            <a:srgbClr val="ECFDF5"/>
          </a:solidFill>
          <a:ln w="15240">
            <a:solidFill>
              <a:srgbClr val="86EFAC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5" name="Text 93"/>
          <p:cNvSpPr/>
          <p:nvPr/>
        </p:nvSpPr>
        <p:spPr>
          <a:xfrm>
            <a:off x="6858000" y="22860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596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兜底回复</a:t>
            </a:r>
            <a:endParaRPr lang="en-US" sz="700" dirty="0"/>
          </a:p>
        </p:txBody>
      </p:sp>
      <p:sp>
        <p:nvSpPr>
          <p:cNvPr id="100" name="Shape 98"/>
          <p:cNvSpPr/>
          <p:nvPr/>
        </p:nvSpPr>
        <p:spPr>
          <a:xfrm>
            <a:off x="7589520" y="2853055"/>
            <a:ext cx="457200" cy="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101" name="Shape 99"/>
          <p:cNvSpPr/>
          <p:nvPr/>
        </p:nvSpPr>
        <p:spPr>
          <a:xfrm>
            <a:off x="8032750" y="2743200"/>
            <a:ext cx="731520" cy="274320"/>
          </a:xfrm>
          <a:prstGeom prst="rect">
            <a:avLst/>
          </a:prstGeom>
          <a:solidFill>
            <a:srgbClr val="059669"/>
          </a:solidFill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2" name="Text 100"/>
          <p:cNvSpPr/>
          <p:nvPr/>
        </p:nvSpPr>
        <p:spPr>
          <a:xfrm>
            <a:off x="8032750" y="27432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输出</a:t>
            </a:r>
            <a:endParaRPr lang="zh-CN" altLang="en-US" sz="800" b="1" dirty="0">
              <a:solidFill>
                <a:srgbClr val="FFFFFF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04" name="Shape 102"/>
          <p:cNvSpPr/>
          <p:nvPr/>
        </p:nvSpPr>
        <p:spPr>
          <a:xfrm>
            <a:off x="6858000" y="2748915"/>
            <a:ext cx="731520" cy="273685"/>
          </a:xfrm>
          <a:prstGeom prst="rect">
            <a:avLst/>
          </a:prstGeom>
          <a:solidFill>
            <a:srgbClr val="ECFDF5"/>
          </a:solidFill>
          <a:ln w="15240">
            <a:solidFill>
              <a:srgbClr val="86EFAC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5" name="Text 103"/>
          <p:cNvSpPr/>
          <p:nvPr/>
        </p:nvSpPr>
        <p:spPr>
          <a:xfrm>
            <a:off x="6858000" y="2748915"/>
            <a:ext cx="731520" cy="2736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700" b="1" dirty="0">
                <a:solidFill>
                  <a:srgbClr val="0596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完成</a:t>
            </a:r>
            <a:r>
              <a:rPr lang="zh-CN" altLang="en-US" sz="700" b="1" dirty="0">
                <a:solidFill>
                  <a:srgbClr val="0596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回复</a:t>
            </a:r>
            <a:endParaRPr lang="zh-CN" altLang="en-US" sz="700" b="1" dirty="0">
              <a:solidFill>
                <a:srgbClr val="059669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06" name="Shape 104"/>
          <p:cNvSpPr/>
          <p:nvPr/>
        </p:nvSpPr>
        <p:spPr>
          <a:xfrm>
            <a:off x="3639312" y="1280160"/>
            <a:ext cx="0" cy="2633472"/>
          </a:xfrm>
          <a:prstGeom prst="line">
            <a:avLst/>
          </a:prstGeom>
          <a:noFill/>
          <a:ln w="15240">
            <a:solidFill>
              <a:srgbClr val="7C3AED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639312" y="1280160"/>
            <a:ext cx="64008" cy="0"/>
          </a:xfrm>
          <a:prstGeom prst="line">
            <a:avLst/>
          </a:prstGeom>
          <a:noFill/>
          <a:ln w="1524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108" name="Shape 106"/>
          <p:cNvSpPr/>
          <p:nvPr/>
        </p:nvSpPr>
        <p:spPr>
          <a:xfrm>
            <a:off x="3639312" y="2743200"/>
            <a:ext cx="64008" cy="0"/>
          </a:xfrm>
          <a:prstGeom prst="line">
            <a:avLst/>
          </a:prstGeom>
          <a:noFill/>
          <a:ln w="1524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109" name="Shape 107"/>
          <p:cNvSpPr/>
          <p:nvPr/>
        </p:nvSpPr>
        <p:spPr>
          <a:xfrm>
            <a:off x="3639312" y="3401568"/>
            <a:ext cx="64008" cy="0"/>
          </a:xfrm>
          <a:prstGeom prst="line">
            <a:avLst/>
          </a:prstGeom>
          <a:noFill/>
          <a:ln w="1524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110" name="Shape 108"/>
          <p:cNvSpPr/>
          <p:nvPr/>
        </p:nvSpPr>
        <p:spPr>
          <a:xfrm>
            <a:off x="3639312" y="3913632"/>
            <a:ext cx="182880" cy="0"/>
          </a:xfrm>
          <a:prstGeom prst="line">
            <a:avLst/>
          </a:prstGeom>
          <a:noFill/>
          <a:ln w="1524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111" name="Text 109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前处理阶段: 用户输入预处理与知识检索  |  意图路由阶段: Agent分发与执行  |  兜底与输出: 兜底回复与最终输出</a:t>
            </a:r>
            <a:endParaRPr lang="en-US" sz="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310</Words>
  <Application>WPS 文字</Application>
  <PresentationFormat>On-screen Show (16:9)</PresentationFormat>
  <Paragraphs>95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6" baseType="lpstr">
      <vt:lpstr>Arial</vt:lpstr>
      <vt:lpstr>宋体</vt:lpstr>
      <vt:lpstr>Wingdings</vt:lpstr>
      <vt:lpstr>微软雅黑</vt:lpstr>
      <vt:lpstr>汉仪旗黑</vt:lpstr>
      <vt:lpstr>微软雅黑</vt:lpstr>
      <vt:lpstr>微软雅黑</vt:lpstr>
      <vt:lpstr>Calibri</vt:lpstr>
      <vt:lpstr>Helvetica Neue</vt:lpstr>
      <vt:lpstr>宋体</vt:lpstr>
      <vt:lpstr>Arial Unicode MS</vt:lpstr>
      <vt:lpstr>汉仪书宋二KW</vt:lpstr>
      <vt:lpstr>等线</vt:lpstr>
      <vt:lpstr>汉仪中等线KW</vt:lpstr>
      <vt:lpstr>Office Theme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万能营销-产品方案</dc:title>
  <dc:creator>PptxGenJS</dc:creator>
  <dc:subject>PptxGenJS Presentation</dc:subject>
  <cp:lastModifiedBy>龙艺</cp:lastModifiedBy>
  <cp:revision>2</cp:revision>
  <dcterms:created xsi:type="dcterms:W3CDTF">2026-04-05T06:16:37Z</dcterms:created>
  <dcterms:modified xsi:type="dcterms:W3CDTF">2026-04-05T06:16:37Z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2052-12.1.25195.25195</vt:lpwstr>
  </property>
  <property fmtid="{D5CDD505-2E9C-101B-9397-08002B2CF9AE}" pid="3" name="ICV">
    <vt:lpwstr>EB11BE873568442545FED1694CC774C2_42</vt:lpwstr>
  </property>
</Properties>
</file>