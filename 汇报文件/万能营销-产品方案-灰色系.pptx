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74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万能营销 — 产品方案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" y="365760"/>
            <a:ext cx="164592" cy="4572000"/>
          </a:xfrm>
          <a:prstGeom prst="rect">
            <a:avLst/>
          </a:prstGeom>
          <a:solidFill>
            <a:srgbClr val="4A5568"/>
          </a:solidFill>
        </p:spPr>
      </p:sp>
      <p:sp>
        <p:nvSpPr>
          <p:cNvPr id="4" name="Text 2"/>
          <p:cNvSpPr/>
          <p:nvPr/>
        </p:nvSpPr>
        <p:spPr>
          <a:xfrm>
            <a:off x="91440" y="365760"/>
            <a:ext cx="164592" cy="457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段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365760" y="411480"/>
            <a:ext cx="640080" cy="274320"/>
          </a:xfrm>
          <a:prstGeom prst="rect">
            <a:avLst/>
          </a:prstGeom>
          <a:solidFill>
            <a:srgbClr val="2D3748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4114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用户输入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143000" y="429768"/>
            <a:ext cx="548640" cy="219456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393192"/>
            <a:ext cx="548640" cy="146304"/>
          </a:xfrm>
          <a:prstGeom prst="ellipse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576072"/>
            <a:ext cx="548640" cy="146304"/>
          </a:xfrm>
          <a:prstGeom prst="ellipse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1148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敏感&amp;安全库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1783080" y="429768"/>
            <a:ext cx="594360" cy="219456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393192"/>
            <a:ext cx="594360" cy="146304"/>
          </a:xfrm>
          <a:prstGeom prst="ellipse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576072"/>
            <a:ext cx="594360" cy="146304"/>
          </a:xfrm>
          <a:prstGeom prst="ellipse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411480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FAQ/预设任务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2468880" y="429768"/>
            <a:ext cx="548640" cy="21945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393192"/>
            <a:ext cx="548640" cy="146304"/>
          </a:xfrm>
          <a:prstGeom prst="ellipse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576072"/>
            <a:ext cx="548640" cy="146304"/>
          </a:xfrm>
          <a:prstGeom prst="ellipse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41148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短期记忆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1371600" y="713232"/>
            <a:ext cx="10972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知识检索</a:t>
            </a:r>
            <a:endParaRPr lang="en-US" sz="500" dirty="0"/>
          </a:p>
        </p:txBody>
      </p:sp>
      <p:sp>
        <p:nvSpPr>
          <p:cNvPr id="20" name="Shape 18"/>
          <p:cNvSpPr/>
          <p:nvPr/>
        </p:nvSpPr>
        <p:spPr>
          <a:xfrm>
            <a:off x="1417320" y="685800"/>
            <a:ext cx="0" cy="274320"/>
          </a:xfrm>
          <a:prstGeom prst="line">
            <a:avLst/>
          </a:prstGeom>
          <a:noFill/>
          <a:ln w="12700">
            <a:solidFill>
              <a:srgbClr val="CBD5E0"/>
            </a:solidFill>
            <a:prstDash val="sys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075688" y="685800"/>
            <a:ext cx="0" cy="274320"/>
          </a:xfrm>
          <a:prstGeom prst="line">
            <a:avLst/>
          </a:prstGeom>
          <a:noFill/>
          <a:ln w="12700">
            <a:solidFill>
              <a:srgbClr val="A0AEC0"/>
            </a:solidFill>
            <a:prstDash val="sys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743200" y="685800"/>
            <a:ext cx="0" cy="274320"/>
          </a:xfrm>
          <a:prstGeom prst="line">
            <a:avLst/>
          </a:prstGeom>
          <a:noFill/>
          <a:ln w="12700">
            <a:solidFill>
              <a:srgbClr val="A0AEC0"/>
            </a:solidFill>
            <a:prstDash val="sys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5800" y="68580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rot="2700000">
            <a:off x="539496" y="950976"/>
            <a:ext cx="292608" cy="292608"/>
          </a:xfrm>
          <a:prstGeom prst="rect">
            <a:avLst/>
          </a:prstGeom>
          <a:solidFill>
            <a:srgbClr val="EDF2F7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" y="987552"/>
            <a:ext cx="40965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2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流程直达?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886968" y="1097280"/>
            <a:ext cx="183794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005840" y="960120"/>
            <a:ext cx="228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2724912" y="987552"/>
            <a:ext cx="594360" cy="219456"/>
          </a:xfrm>
          <a:prstGeom prst="rect">
            <a:avLst/>
          </a:prstGeom>
          <a:solidFill>
            <a:srgbClr val="EDF2F7"/>
          </a:solidFill>
          <a:ln w="1524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24912" y="987552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553C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直达特定Agent</a:t>
            </a:r>
            <a:endParaRPr lang="en-US" sz="500" dirty="0"/>
          </a:p>
        </p:txBody>
      </p:sp>
      <p:sp>
        <p:nvSpPr>
          <p:cNvPr id="30" name="Shape 28"/>
          <p:cNvSpPr/>
          <p:nvPr/>
        </p:nvSpPr>
        <p:spPr>
          <a:xfrm>
            <a:off x="685800" y="1298448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rot="2700000">
            <a:off x="539496" y="1499616"/>
            <a:ext cx="292608" cy="292608"/>
          </a:xfrm>
          <a:prstGeom prst="rect">
            <a:avLst/>
          </a:prstGeom>
          <a:solidFill>
            <a:srgbClr val="EDF2F7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" y="1536192"/>
            <a:ext cx="40965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2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敏感问答?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886968" y="1645920"/>
            <a:ext cx="183794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005840" y="1508760"/>
            <a:ext cx="228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2724912" y="1536192"/>
            <a:ext cx="594360" cy="219456"/>
          </a:xfrm>
          <a:prstGeom prst="rect">
            <a:avLst/>
          </a:prstGeom>
          <a:solidFill>
            <a:srgbClr val="EDF2F7"/>
          </a:solidFill>
          <a:ln w="1524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24912" y="1536192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安全拦截回复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685800" y="1847088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rot="2700000">
            <a:off x="539496" y="2048256"/>
            <a:ext cx="292608" cy="292608"/>
          </a:xfrm>
          <a:prstGeom prst="rect">
            <a:avLst/>
          </a:prstGeom>
          <a:solidFill>
            <a:srgbClr val="EDF2F7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" y="2084832"/>
            <a:ext cx="40965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2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多轮上下文?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886968" y="2194560"/>
            <a:ext cx="183794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005840" y="2057400"/>
            <a:ext cx="228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500" dirty="0"/>
          </a:p>
        </p:txBody>
      </p:sp>
      <p:sp>
        <p:nvSpPr>
          <p:cNvPr id="42" name="Shape 40"/>
          <p:cNvSpPr/>
          <p:nvPr/>
        </p:nvSpPr>
        <p:spPr>
          <a:xfrm>
            <a:off x="2724912" y="2084832"/>
            <a:ext cx="594360" cy="219456"/>
          </a:xfrm>
          <a:prstGeom prst="rect">
            <a:avLst/>
          </a:prstGeom>
          <a:solidFill>
            <a:srgbClr val="EDF2F7"/>
          </a:solidFill>
          <a:ln w="1524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724912" y="2084832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结合上文改写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685800" y="2395728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rot="2700000">
            <a:off x="539496" y="2596896"/>
            <a:ext cx="292608" cy="292608"/>
          </a:xfrm>
          <a:prstGeom prst="rect">
            <a:avLst/>
          </a:prstGeom>
          <a:solidFill>
            <a:srgbClr val="EDF2F7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" y="2633472"/>
            <a:ext cx="40965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20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需要澄清?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886968" y="2743200"/>
            <a:ext cx="183794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1005840" y="2606040"/>
            <a:ext cx="228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500" dirty="0"/>
          </a:p>
        </p:txBody>
      </p:sp>
      <p:sp>
        <p:nvSpPr>
          <p:cNvPr id="49" name="Shape 47"/>
          <p:cNvSpPr/>
          <p:nvPr/>
        </p:nvSpPr>
        <p:spPr>
          <a:xfrm>
            <a:off x="2724912" y="2633472"/>
            <a:ext cx="594360" cy="219456"/>
          </a:xfrm>
          <a:prstGeom prst="rect">
            <a:avLst/>
          </a:prstGeom>
          <a:solidFill>
            <a:srgbClr val="F7FAFC"/>
          </a:solidFill>
          <a:ln w="1524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24912" y="2633472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澄清问题</a:t>
            </a:r>
            <a:endParaRPr lang="en-US" sz="500" dirty="0"/>
          </a:p>
        </p:txBody>
      </p:sp>
      <p:sp>
        <p:nvSpPr>
          <p:cNvPr id="51" name="Shape 49"/>
          <p:cNvSpPr/>
          <p:nvPr/>
        </p:nvSpPr>
        <p:spPr>
          <a:xfrm>
            <a:off x="685800" y="2944368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65760" y="3182112"/>
            <a:ext cx="640080" cy="219456"/>
          </a:xfrm>
          <a:prstGeom prst="rect">
            <a:avLst/>
          </a:prstGeom>
          <a:solidFill>
            <a:srgbClr val="F0F4F8"/>
          </a:solidFill>
          <a:ln w="1524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65760" y="318211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RAG召回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685800" y="340156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20040" y="3703320"/>
            <a:ext cx="731520" cy="274320"/>
          </a:xfrm>
          <a:prstGeom prst="rect">
            <a:avLst/>
          </a:prstGeom>
          <a:solidFill>
            <a:srgbClr val="4A5568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20040" y="37033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意图识别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51560" y="3840480"/>
            <a:ext cx="2468880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dash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1371600" y="3657600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i="1" dirty="0">
                <a:solidFill>
                  <a:srgbClr val="4A55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+ FewShot</a:t>
            </a:r>
            <a:endParaRPr lang="en-US" sz="500" dirty="0"/>
          </a:p>
        </p:txBody>
      </p:sp>
      <p:sp>
        <p:nvSpPr>
          <p:cNvPr id="59" name="Shape 57"/>
          <p:cNvSpPr/>
          <p:nvPr/>
        </p:nvSpPr>
        <p:spPr>
          <a:xfrm>
            <a:off x="3383280" y="365760"/>
            <a:ext cx="164592" cy="4572000"/>
          </a:xfrm>
          <a:prstGeom prst="rect">
            <a:avLst/>
          </a:prstGeom>
          <a:solidFill>
            <a:srgbClr val="553C9A"/>
          </a:solidFill>
        </p:spPr>
      </p:sp>
      <p:sp>
        <p:nvSpPr>
          <p:cNvPr id="60" name="Text 58"/>
          <p:cNvSpPr/>
          <p:nvPr/>
        </p:nvSpPr>
        <p:spPr>
          <a:xfrm>
            <a:off x="3383280" y="365760"/>
            <a:ext cx="164592" cy="457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意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段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3703320" y="411480"/>
            <a:ext cx="2560320" cy="1874520"/>
          </a:xfrm>
          <a:prstGeom prst="rect">
            <a:avLst/>
          </a:prstGeom>
          <a:solidFill>
            <a:srgbClr val="EDF2F7"/>
          </a:solidFill>
          <a:ln w="12700">
            <a:solidFill>
              <a:srgbClr val="A0AE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703320" y="4114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D374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万能营销 Agents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822192" y="685800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A0AE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822192" y="68580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2D374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营销规划Agent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4992624" y="685800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A0AE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992624" y="68580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2D374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充值缴费Agent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3822192" y="1005840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A0AE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3822192" y="100584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2D374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内容创作Agent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4992624" y="1005840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A0AE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4992624" y="100584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2D374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客户经营Agent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3822192" y="1325880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A0AE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822192" y="132588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2D374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组织管理Agent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4992624" y="1325880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A0AE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4992624" y="132588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2D374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产品销售Agent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6263640" y="1280160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3703320" y="2423160"/>
            <a:ext cx="256032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A0AE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3703320" y="242316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53C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平安ONE (Openclaw)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3822192" y="2670048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A0AE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3822192" y="2670048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553C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云侧实例(沙盒)</a:t>
            </a:r>
            <a:endParaRPr lang="en-US" sz="550" dirty="0"/>
          </a:p>
        </p:txBody>
      </p:sp>
      <p:sp>
        <p:nvSpPr>
          <p:cNvPr id="80" name="Shape 78"/>
          <p:cNvSpPr/>
          <p:nvPr/>
        </p:nvSpPr>
        <p:spPr>
          <a:xfrm>
            <a:off x="5010912" y="2670048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A0AE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5010912" y="2670048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553C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端侧实例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6263640" y="2743200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3703320" y="3200400"/>
            <a:ext cx="256032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A0AE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3703320" y="32004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原ASKBOB智能问答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263640" y="3401568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3822192" y="3794760"/>
            <a:ext cx="777240" cy="228600"/>
          </a:xfrm>
          <a:prstGeom prst="rect">
            <a:avLst/>
          </a:prstGeom>
          <a:solidFill>
            <a:srgbClr val="F7FAFC"/>
          </a:solidFill>
          <a:ln w="1524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3822192" y="3794760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闲聊意图</a:t>
            </a:r>
            <a:endParaRPr lang="en-US" sz="550" dirty="0"/>
          </a:p>
        </p:txBody>
      </p:sp>
      <p:sp>
        <p:nvSpPr>
          <p:cNvPr id="88" name="Shape 86"/>
          <p:cNvSpPr/>
          <p:nvPr/>
        </p:nvSpPr>
        <p:spPr>
          <a:xfrm>
            <a:off x="4599432" y="390906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4965192" y="3794760"/>
            <a:ext cx="777240" cy="228600"/>
          </a:xfrm>
          <a:prstGeom prst="rect">
            <a:avLst/>
          </a:prstGeom>
          <a:solidFill>
            <a:srgbClr val="F7FAFC"/>
          </a:solidFill>
          <a:ln w="15240">
            <a:solidFill>
              <a:srgbClr val="CBD5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4965192" y="3794760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闲聊回复</a:t>
            </a:r>
            <a:endParaRPr lang="en-US" sz="550" dirty="0"/>
          </a:p>
        </p:txBody>
      </p:sp>
      <p:sp>
        <p:nvSpPr>
          <p:cNvPr id="91" name="Shape 89"/>
          <p:cNvSpPr/>
          <p:nvPr/>
        </p:nvSpPr>
        <p:spPr>
          <a:xfrm>
            <a:off x="5742432" y="3909060"/>
            <a:ext cx="84124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6492240" y="365760"/>
            <a:ext cx="164592" cy="4572000"/>
          </a:xfrm>
          <a:prstGeom prst="rect">
            <a:avLst/>
          </a:prstGeom>
          <a:solidFill>
            <a:srgbClr val="718096"/>
          </a:solidFill>
        </p:spPr>
      </p:sp>
      <p:sp>
        <p:nvSpPr>
          <p:cNvPr id="93" name="Text 91"/>
          <p:cNvSpPr/>
          <p:nvPr/>
        </p:nvSpPr>
        <p:spPr>
          <a:xfrm>
            <a:off x="6492240" y="365760"/>
            <a:ext cx="164592" cy="457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兜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6858000" y="2286000"/>
            <a:ext cx="731520" cy="274320"/>
          </a:xfrm>
          <a:prstGeom prst="rect">
            <a:avLst/>
          </a:prstGeom>
          <a:solidFill>
            <a:srgbClr val="F0F4F8"/>
          </a:solidFill>
          <a:ln w="15240">
            <a:solidFill>
              <a:srgbClr val="A0AE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6858000" y="22860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兜底回复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589520" y="2853055"/>
            <a:ext cx="457200" cy="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8032750" y="2743200"/>
            <a:ext cx="731520" cy="274320"/>
          </a:xfrm>
          <a:prstGeom prst="rect">
            <a:avLst/>
          </a:prstGeom>
          <a:solidFill>
            <a:srgbClr val="718096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8032750" y="27432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</a:t>
            </a:r>
            <a:endParaRPr lang="zh-CN" altLang="en-US" sz="8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6858000" y="2748915"/>
            <a:ext cx="731520" cy="273685"/>
          </a:xfrm>
          <a:prstGeom prst="rect">
            <a:avLst/>
          </a:prstGeom>
          <a:solidFill>
            <a:srgbClr val="F0F4F8"/>
          </a:solidFill>
          <a:ln w="15240">
            <a:solidFill>
              <a:srgbClr val="A0AEC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5" name="Text 103"/>
          <p:cNvSpPr/>
          <p:nvPr/>
        </p:nvSpPr>
        <p:spPr>
          <a:xfrm>
            <a:off x="6858000" y="2748915"/>
            <a:ext cx="731520" cy="273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00" b="1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</a:t>
            </a:r>
            <a:r>
              <a:rPr lang="zh-CN" altLang="en-US" sz="700" b="1" dirty="0">
                <a:solidFill>
                  <a:srgbClr val="718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回复</a:t>
            </a:r>
            <a:endParaRPr lang="zh-CN" altLang="en-US" sz="700" b="1" dirty="0">
              <a:solidFill>
                <a:srgbClr val="718096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3639312" y="1280160"/>
            <a:ext cx="0" cy="2633472"/>
          </a:xfrm>
          <a:prstGeom prst="line">
            <a:avLst/>
          </a:prstGeom>
          <a:noFill/>
          <a:ln w="15240">
            <a:solidFill>
              <a:srgbClr val="553C9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39312" y="1280160"/>
            <a:ext cx="64008" cy="0"/>
          </a:xfrm>
          <a:prstGeom prst="line">
            <a:avLst/>
          </a:prstGeom>
          <a:noFill/>
          <a:ln w="15240">
            <a:solidFill>
              <a:srgbClr val="553C9A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3639312" y="2743200"/>
            <a:ext cx="64008" cy="0"/>
          </a:xfrm>
          <a:prstGeom prst="line">
            <a:avLst/>
          </a:prstGeom>
          <a:noFill/>
          <a:ln w="15240">
            <a:solidFill>
              <a:srgbClr val="553C9A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3639312" y="3401568"/>
            <a:ext cx="64008" cy="0"/>
          </a:xfrm>
          <a:prstGeom prst="line">
            <a:avLst/>
          </a:prstGeom>
          <a:noFill/>
          <a:ln w="15240">
            <a:solidFill>
              <a:srgbClr val="553C9A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3639312" y="3913632"/>
            <a:ext cx="182880" cy="0"/>
          </a:xfrm>
          <a:prstGeom prst="line">
            <a:avLst/>
          </a:prstGeom>
          <a:noFill/>
          <a:ln w="15240">
            <a:solidFill>
              <a:srgbClr val="553C9A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前处理阶段: 用户输入预处理与知识检索  |  意图路由阶段: Agent分发与执行  |  兜底与输出: 兜底回复与最终输出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WPS 文字</Application>
  <PresentationFormat>On-screen Show (16:9)</PresentationFormat>
  <Paragraphs>95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Arial Unicode MS</vt:lpstr>
      <vt:lpstr>汉仪书宋二KW</vt:lpstr>
      <vt:lpstr>等线</vt:lpstr>
      <vt:lpstr>汉仪中等线KW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万能营销-产品方案</dc:title>
  <dc:creator>PptxGenJS</dc:creator>
  <dc:subject>PptxGenJS Presentation</dc:subject>
  <cp:lastModifiedBy>龙艺</cp:lastModifiedBy>
  <cp:revision>2</cp:revision>
  <dcterms:created xsi:type="dcterms:W3CDTF">2026-04-05T06:16:37Z</dcterms:created>
  <dcterms:modified xsi:type="dcterms:W3CDTF">2026-04-05T06:16:37Z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2052-12.1.25195.25195</vt:lpwstr>
  </property>
  <property fmtid="{D5CDD505-2E9C-101B-9397-08002B2CF9AE}" pid="3" name="ICV">
    <vt:lpwstr>EB11BE873568442545FED1694CC774C2_42</vt:lpwstr>
  </property>
</Properties>
</file>